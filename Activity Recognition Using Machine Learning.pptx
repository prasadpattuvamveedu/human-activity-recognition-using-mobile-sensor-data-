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image" Target="../media/image1.png"/><Relationship Id="rId4" Type="http://schemas.openxmlformats.org/officeDocument/2006/relationships/tags" Target="../tags/tag127.xml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image" Target="../media/image1.png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70.xml"/><Relationship Id="rId8" Type="http://schemas.openxmlformats.org/officeDocument/2006/relationships/tags" Target="../tags/tag169.xml"/><Relationship Id="rId7" Type="http://schemas.openxmlformats.org/officeDocument/2006/relationships/tags" Target="../tags/tag168.xml"/><Relationship Id="rId6" Type="http://schemas.openxmlformats.org/officeDocument/2006/relationships/tags" Target="../tags/tag167.xml"/><Relationship Id="rId5" Type="http://schemas.openxmlformats.org/officeDocument/2006/relationships/tags" Target="../tags/tag166.xml"/><Relationship Id="rId4" Type="http://schemas.openxmlformats.org/officeDocument/2006/relationships/tags" Target="../tags/tag165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image" Target="../media/image1.png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>
            <p:custDataLst>
              <p:tags r:id="rId6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0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9" Type="http://schemas.openxmlformats.org/officeDocument/2006/relationships/tags" Target="../tags/tag203.xml"/><Relationship Id="rId18" Type="http://schemas.openxmlformats.org/officeDocument/2006/relationships/tags" Target="../tags/tag202.xml"/><Relationship Id="rId17" Type="http://schemas.openxmlformats.org/officeDocument/2006/relationships/tags" Target="../tags/tag201.xml"/><Relationship Id="rId16" Type="http://schemas.openxmlformats.org/officeDocument/2006/relationships/tags" Target="../tags/tag200.xml"/><Relationship Id="rId15" Type="http://schemas.openxmlformats.org/officeDocument/2006/relationships/tags" Target="../tags/tag199.xml"/><Relationship Id="rId14" Type="http://schemas.openxmlformats.org/officeDocument/2006/relationships/tags" Target="../tags/tag198.xml"/><Relationship Id="rId13" Type="http://schemas.openxmlformats.org/officeDocument/2006/relationships/image" Target="../media/image2.png"/><Relationship Id="rId12" Type="http://schemas.openxmlformats.org/officeDocument/2006/relationships/tags" Target="../tags/tag197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3.xml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09.xml"/><Relationship Id="rId1" Type="http://schemas.openxmlformats.org/officeDocument/2006/relationships/tags" Target="../tags/tag20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1.xml"/><Relationship Id="rId1" Type="http://schemas.openxmlformats.org/officeDocument/2006/relationships/tags" Target="../tags/tag2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3.xml"/><Relationship Id="rId1" Type="http://schemas.openxmlformats.org/officeDocument/2006/relationships/tags" Target="../tags/tag2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5.xml"/><Relationship Id="rId1" Type="http://schemas.openxmlformats.org/officeDocument/2006/relationships/tags" Target="../tags/tag2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7.xml"/><Relationship Id="rId1" Type="http://schemas.openxmlformats.org/officeDocument/2006/relationships/tags" Target="../tags/tag2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19.xml"/><Relationship Id="rId1" Type="http://schemas.openxmlformats.org/officeDocument/2006/relationships/tags" Target="../tags/tag2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1.xml"/><Relationship Id="rId1" Type="http://schemas.openxmlformats.org/officeDocument/2006/relationships/tags" Target="../tags/tag2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5.xml"/><Relationship Id="rId1" Type="http://schemas.openxmlformats.org/officeDocument/2006/relationships/tags" Target="../tags/tag2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7.xml"/><Relationship Id="rId1" Type="http://schemas.openxmlformats.org/officeDocument/2006/relationships/tags" Target="../tags/tag22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29.xml"/><Relationship Id="rId1" Type="http://schemas.openxmlformats.org/officeDocument/2006/relationships/tags" Target="../tags/tag22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1.xml"/><Relationship Id="rId1" Type="http://schemas.openxmlformats.org/officeDocument/2006/relationships/tags" Target="../tags/tag23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3.xml"/><Relationship Id="rId1" Type="http://schemas.openxmlformats.org/officeDocument/2006/relationships/tags" Target="../tags/tag2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5.xml"/><Relationship Id="rId1" Type="http://schemas.openxmlformats.org/officeDocument/2006/relationships/tags" Target="../tags/tag2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7.xml"/><Relationship Id="rId1" Type="http://schemas.openxmlformats.org/officeDocument/2006/relationships/tags" Target="../tags/tag2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41.xml"/><Relationship Id="rId1" Type="http://schemas.openxmlformats.org/officeDocument/2006/relationships/tags" Target="../tags/tag24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tags" Target="../tags/tag243.xml"/><Relationship Id="rId1" Type="http://schemas.openxmlformats.org/officeDocument/2006/relationships/tags" Target="../tags/tag242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0.xml"/><Relationship Id="rId4" Type="http://schemas.openxmlformats.org/officeDocument/2006/relationships/tags" Target="../tags/tag246.xml"/><Relationship Id="rId3" Type="http://schemas.openxmlformats.org/officeDocument/2006/relationships/image" Target="../media/image3.jpeg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1252855"/>
            <a:ext cx="10515600" cy="2902585"/>
          </a:xfrm>
        </p:spPr>
        <p:txBody>
          <a:bodyPr anchor="ctr" anchorCtr="0"/>
          <a:lstStyle/>
          <a:p>
            <a:r>
              <a:rPr lang="en-US" altLang="en-US" dirty="0"/>
              <a:t>Activity Recognition Using Machine Learning</a:t>
            </a:r>
            <a:endParaRPr lang="en-US" altLang="en-US" dirty="0"/>
          </a:p>
        </p:txBody>
      </p:sp>
      <p:sp>
        <p:nvSpPr>
          <p:cNvPr id="9" name="副标题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904875" y="180975"/>
            <a:ext cx="10515600" cy="944880"/>
          </a:xfrm>
        </p:spPr>
        <p:txBody>
          <a:bodyPr/>
          <a:lstStyle/>
          <a:p>
            <a:r>
              <a:rPr lang="en-US">
                <a:ea typeface="+mn-ea"/>
              </a:rPr>
              <a:t>Click to add subtitle</a:t>
            </a:r>
            <a:endParaRPr lang="en-US">
              <a:ea typeface="+mn-ea"/>
            </a:endParaRPr>
          </a:p>
        </p:txBody>
      </p:sp>
      <p:sp>
        <p:nvSpPr>
          <p:cNvPr id="11" name="署名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421061" y="4299150"/>
            <a:ext cx="5193634" cy="50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/>
                </a:gradFill>
              </a:rPr>
              <a:t>PRASAD PV</a:t>
            </a:r>
            <a:endParaRPr lang="en-US" dirty="0"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/>
              </a:gra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84150" y="0"/>
            <a:ext cx="11796395" cy="68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3200" b="1">
                <a:solidFill>
                  <a:schemeClr val="accent1">
                    <a:lumMod val="50000"/>
                  </a:schemeClr>
                </a:solidFill>
              </a:rPr>
              <a:t>Introduction</a:t>
            </a:r>
            <a:endParaRPr lang="en-US" altLang="en-US" sz="32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Activity recognition is the process of identifying human      activities using sensor data.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In this project, accelerometer and gyroscope sensor data are used for activity classification.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Machine learning techniques are applied to identify patterns in sensor measurements.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The target variable, Activity, contains two classes: 0 and 1.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Multiple machine learning algorithms are compared to identify the best-performing model.</a:t>
            </a:r>
            <a:endParaRPr lang="en-US" altLang="en-US" sz="3200" b="1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84150" y="0"/>
            <a:ext cx="11796395" cy="68580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3200" b="1">
                <a:solidFill>
                  <a:schemeClr val="accent1">
                    <a:lumMod val="50000"/>
                    <a:hueOff val="9600000"/>
                  </a:schemeClr>
                </a:solidFill>
              </a:rPr>
              <a:t>PROBLEM STATEMENT</a:t>
            </a:r>
            <a:endParaRPr lang="en-US" altLang="en-US" sz="3200" b="1">
              <a:solidFill>
                <a:schemeClr val="accent1">
                  <a:lumMod val="50000"/>
                  <a:hueOff val="9600000"/>
                </a:schemeClr>
              </a:solidFill>
            </a:endParaRPr>
          </a:p>
          <a:p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accent1">
                    <a:lumMod val="50000"/>
                    <a:hueOff val="10800000"/>
                  </a:schemeClr>
                </a:solidFill>
              </a:rPr>
              <a:t>Problem Statement</a:t>
            </a:r>
            <a:endParaRPr lang="en-US" altLang="en-US" sz="3200" b="1">
              <a:solidFill>
                <a:schemeClr val="accent1">
                  <a:lumMod val="50000"/>
                  <a:hueOff val="10800000"/>
                </a:schemeClr>
              </a:solidFill>
            </a:endParaRPr>
          </a:p>
          <a:p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To develop a machine learning model that can classify human activities using accelerometer and gyroscope sensor measurements.</a:t>
            </a:r>
            <a:endParaRPr lang="en-US" altLang="en-US" sz="3200" b="1">
              <a:solidFill>
                <a:schemeClr val="tx1"/>
              </a:solidFill>
            </a:endParaRPr>
          </a:p>
          <a:p>
            <a:endParaRPr lang="en-US" altLang="en-US" sz="3200" b="1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r>
              <a:rPr lang="en-US" altLang="en-US" sz="3200" b="1">
                <a:solidFill>
                  <a:schemeClr val="accent1">
                    <a:lumMod val="50000"/>
                  </a:schemeClr>
                </a:solidFill>
              </a:rPr>
              <a:t>DATASET</a:t>
            </a:r>
            <a:endParaRPr lang="en-US" altLang="en-US" sz="32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3200" b="1">
                <a:solidFill>
                  <a:schemeClr val="tx1"/>
                </a:solidFill>
              </a:rPr>
              <a:t>The dataset contains sensor measurements collected during human activity.</a:t>
            </a:r>
            <a:endParaRPr lang="en-US" altLang="en-US" sz="3200" b="1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accent1">
                    <a:lumMod val="50000"/>
                  </a:schemeClr>
                </a:solidFill>
              </a:rPr>
              <a:t>Feature	   	Description</a:t>
            </a:r>
            <a:endParaRPr lang="en-US" altLang="en-US" sz="32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accX  	   	Accelerometer measurement along X-axis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accY	           	Accelerometer measurement along Y-axis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accZ	           	Accelerometer measurement along Z-axis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gyroX	   	Gyroscope measurement along X-axis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gyroY	   	Gyroscope measurement along Y-axis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gyroZ	   	Gyroscope measurement along Z-axis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timestamp	Time of sensor recording</a:t>
            </a:r>
            <a:endParaRPr lang="en-US" altLang="en-US" sz="3200">
              <a:solidFill>
                <a:schemeClr val="tx1"/>
              </a:solidFill>
            </a:endParaRPr>
          </a:p>
          <a:p>
            <a:r>
              <a:rPr lang="en-US" altLang="en-US" sz="3200">
                <a:solidFill>
                  <a:schemeClr val="tx1"/>
                </a:solidFill>
              </a:rPr>
              <a:t>Activity	        Target variable: 0 or 1</a:t>
            </a:r>
            <a:endParaRPr lang="en-US" altLang="en-US" sz="32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Data Quality Analysis</a:t>
            </a:r>
            <a:endParaRPr lang="en-US" altLang="en-US" sz="240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dataset was examined to ensure that it was suitable for further analysis and model development.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Checks performed</a:t>
            </a:r>
            <a:endParaRPr lang="en-US" altLang="en-US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Missing value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Duplicate record detection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Data-type verification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Outlier analysis</a:t>
            </a:r>
            <a:endParaRPr lang="en-US" altLang="en-US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Activity/class distribution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 Cleaning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144 duplicate records were identified and removed.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Missing-value analysis showed no significant missing values requiring imputation.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Sensor features were examined for potential outliers using the IQR method.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Plausible sensor variations were retained because extreme values can represent genuine movement patterns.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Data Quality Analysis</a:t>
            </a:r>
            <a:endParaRPr lang="en-US" altLang="en-US" sz="2400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dataset was examined to ensure that it was suitable for further analysis and model development.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Checks performed</a:t>
            </a:r>
            <a:endParaRPr lang="en-US" altLang="en-US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Missing value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Duplicate record detection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Data-type verification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accent1">
                    <a:lumMod val="50000"/>
                  </a:schemeClr>
                </a:solidFill>
              </a:rPr>
              <a:t>Outlier analysis</a:t>
            </a:r>
            <a:endParaRPr lang="en-US" altLang="en-US" sz="240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Activity/class distribution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 Cleaning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144 duplicate records were identified and removed.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Missing-value analysis showed no significant missing values requiring imputation.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Sensor features were examined for potential outliers using the IQR method.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Plausible sensor variations were retained because extreme values can represent genuine movement patterns.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Exploratory Data Analysis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Exploratory Data Analysis was performed to understand the distribution and characteristics of the sensor measurements.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Analysis performed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Univariate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Bivariate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Sensor feature distributions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Activity-wise comparisons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Correlation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Boxplot analysis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Key Finding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accelerometer features showed more noticeable differences between activity groups compared with several gyroscope features.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Correlation Analysis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Correlation analysis was performed to examine relationships between sensor variables.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 correlation matrix and heatmap were used for visualization.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Most relationships between sensor variables were weak to moderate.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Some noticeable relationships were observed among the accelerometer and gyroscope features.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No extremely strong overall correlation was observed between the sensor variables.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Inference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sensor features contain some relationships with each other, but the overall correlation structure does not indicate severe multicollinearity.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Correlation Analysis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Correlation analysis was performed to examine relationships between sensor variables.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 correlation matrix and heatmap were used for visualization.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Most relationships between sensor variables were weak to moderate.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Some noticeable relationships were observed among the accelerometer and gyroscope features.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No extremely strong overall correlation was observed between the sensor variables.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Inference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sensor features contain some relationships with each other, but the overall correlation structure does not indicate severe multicollinearity.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Outlier Analysis Using IQR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Interquartile Range (IQR) method was used to identify potential outliers.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Method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Q1 = 25th percentile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Q3 = 75th percentile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IQR = Q3 − Q1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Lower Bound = Q1 − 1.5 × IQR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Upper Bound = Q3 + 1.5 × IQR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Result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Potential outliers were identified in the sensor measurements.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After applying the original IQR filtering criteria, 28,085 observations remained.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Remaining extreme-looking observations were not automatically removed because sensor spikes may represent genuine movement.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Inference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IQR analysis helped identify unusual observations while avoiding unnecessary removal of potentially meaningful sensor measurements.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635" y="0"/>
            <a:ext cx="12191365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tx1"/>
                </a:solidFill>
              </a:rPr>
              <a:t>Statistical Analysis</a:t>
            </a:r>
            <a:endParaRPr lang="en-US" altLang="en-US" sz="2400" b="1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Statistical tests were performed to determine whether sensor measurements differed between the two activity groups.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Tests Used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One-Way ANOVA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Mann–Whitney U Test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ANOVA Results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Significant differences were observed for: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accX — p &lt; 0.05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accY — p &lt; 0.05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accZ — p &lt; 0.05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>
                <a:solidFill>
                  <a:schemeClr val="tx1"/>
                </a:solidFill>
                <a:sym typeface="+mn-ea"/>
              </a:rPr>
              <a:t>The gyroscope features: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  <a:sym typeface="+mn-ea"/>
              </a:rPr>
              <a:t>gyroX — Not significant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  <a:sym typeface="+mn-ea"/>
              </a:rPr>
              <a:t>gyroY — Not significant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  <a:sym typeface="+mn-ea"/>
              </a:rPr>
              <a:t>gyroZ — Not significant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  <a:sym typeface="+mn-ea"/>
              </a:rPr>
              <a:t>Inference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  <a:sym typeface="+mn-ea"/>
              </a:rPr>
              <a:t>The accelerometer features showed statistically significant differences between the activity groups, indicating that they may provide stronger information for activity classification.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Principal Component Analysis (PCA)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PCA was used to reduce the six sensor features into two principal components.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Explained Variance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PCA1: 20.36%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PCA2: 19.71%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Total: 40.07%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Inference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first two principal components explain 40.07% of the total variance. The PCA visualization shows considerable overlap between the activity groups, indicating that the first two components do not provide clear separation between the classes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Time-Series Structure and Data-Leakage Risk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activity labels were analyzed according to their recording order.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Observation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 1 occurs throughout most of the recording sequence.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 0 is concentrated within a relatively narrow section of the recording.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Sensor observations recorded close together in time may be highly similar.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Data-Leakage Risk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 random row-level train-test split may place neighboring observations from the same recording period into both training and testing datasets.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This can result in overly optimistic model performance.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Recommended Approach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Time-aware splitting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Group-aware splitting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Session/subject-based splitting when identifiers are available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 lnSpcReduction="10000"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Time-Series Structure and Data-Leakage Risk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activity labels were analyzed according to their recording order.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Observation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 1 occurs throughout most of the recording sequence.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Activity 0 is concentrated within a relatively narrow section of the recording.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Sensor observations recorded close together in time may be highly similar.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Data-Leakage Risk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 random row-level train-test split may place neighboring observations from the same recording period into both training and testing datasets.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This can result in overly optimistic model performance.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Recommended Approach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Time-aware splitting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Group-aware splitting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Session/subject-based splitting when identifiers are available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106045" y="0"/>
            <a:ext cx="11979910" cy="68573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Data Preparation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Input Features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Six sensor features were used: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accX, accY, accZ, gyroX, gyroY, gyroZ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Target Variable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Activity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Preprocessing Steps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Data cleaning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Train-test split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Feature standardization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Class imbalance handling using SMOTE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Model training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231140" y="345440"/>
            <a:ext cx="11960860" cy="6120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Class Imbalance Handling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activity classes were examined for imbalance.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SMOTE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Synthetic Minority Over-sampling Technique (SMOTE) was used to address class imbalance.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Process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Training data was separated from testing data first.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SMOTE was applied only to the training data.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The test dataset was kept untouched.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Synthetic minority samples were generated to improve class balance.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Purpose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SMOTE helps the model learn the minority activity class more effectively without modifying the original test data.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231140" y="345440"/>
            <a:ext cx="11960860" cy="61207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Machine Learning Models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Seven classification algorithms were evaluated: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Logistic Regression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Support Vector Classifier (SVC)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K-Nearest Neighbors (KNN)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Gaussian Naive Bayes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Decision Tree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Random Forest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XGBoost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231140" y="345440"/>
            <a:ext cx="11960860" cy="612076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MODEL PERFORMANCE INFERENCE</a:t>
            </a:r>
            <a:endParaRPr lang="en-US" altLang="en-US" sz="2400" b="1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Model Performance — Inference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Random Forest achieved the </a:t>
            </a:r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highest accuracy of 96.69%</a:t>
            </a:r>
            <a:r>
              <a:rPr lang="en-US" altLang="en-US" sz="2400">
                <a:solidFill>
                  <a:schemeClr val="tx1"/>
                </a:solidFill>
              </a:rPr>
              <a:t>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Random Forest also achieved the </a:t>
            </a:r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highest recall (97.32%) </a:t>
            </a:r>
            <a:r>
              <a:rPr lang="en-US" altLang="en-US" sz="2400">
                <a:solidFill>
                  <a:schemeClr val="tx1"/>
                </a:solidFill>
              </a:rPr>
              <a:t>and F1-score (98.30%).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KNN achieved the second-highest </a:t>
            </a:r>
            <a:r>
              <a:rPr lang="en-US" altLang="en-US" sz="2400" b="1">
                <a:solidFill>
                  <a:schemeClr val="accent1">
                    <a:lumMod val="50000"/>
                  </a:schemeClr>
                </a:solidFill>
              </a:rPr>
              <a:t>accuracy at 93.72%</a:t>
            </a:r>
            <a:r>
              <a:rPr lang="en-US" altLang="en-US" sz="2400">
                <a:solidFill>
                  <a:schemeClr val="tx1"/>
                </a:solidFill>
              </a:rPr>
              <a:t>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Decision Tree and XGBoost also showed strong classification performance.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Logistic Regression and SVC had comparatively lower accuracy and recall.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XGBoost achieved the highest ROC-AUC of 0.886, indicating strong discrimination across classification thresholds.</a:t>
            </a:r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Overall Finding</a:t>
            </a:r>
            <a:endParaRPr lang="en-US" altLang="en-US" sz="2400">
              <a:solidFill>
                <a:schemeClr val="tx1"/>
              </a:solidFill>
            </a:endParaRPr>
          </a:p>
          <a:p>
            <a:endParaRPr lang="en-US" altLang="en-US" sz="2400">
              <a:solidFill>
                <a:schemeClr val="tx1"/>
              </a:solidFill>
            </a:endParaRPr>
          </a:p>
          <a:p>
            <a:r>
              <a:rPr lang="en-US" altLang="en-US" sz="2400">
                <a:solidFill>
                  <a:schemeClr val="tx1"/>
                </a:solidFill>
              </a:rPr>
              <a:t>Random Forest was the strongest overall model based on accuracy, recall, and F1-score, while XGBoost achieved the highest ROC-AUC.</a:t>
            </a:r>
            <a:endParaRPr lang="en-US" altLang="en-US" sz="240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231140" y="345440"/>
            <a:ext cx="11960860" cy="6120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US" sz="2400">
              <a:solidFill>
                <a:schemeClr val="tx1"/>
              </a:solidFill>
            </a:endParaRPr>
          </a:p>
        </p:txBody>
      </p:sp>
      <p:pic>
        <p:nvPicPr>
          <p:cNvPr id="2" name="Picture 1" descr="Screenshot (3649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406015" y="528955"/>
            <a:ext cx="6757035" cy="5753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15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15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1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16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16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7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8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19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9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94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95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9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19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203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20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7990_1*a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title"/>
</p:tagLst>
</file>

<file path=ppt/tags/tag20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37990_1*b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Click to add subtitle"/>
</p:tagLst>
</file>

<file path=ppt/tags/tag206.xml><?xml version="1.0" encoding="utf-8"?>
<p:tagLst xmlns:p="http://schemas.openxmlformats.org/presentationml/2006/main">
  <p:tag name="KSO_WM_UNIT_SUBTYPE" val="b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7990_1*f*1"/>
  <p:tag name="KSO_WM_TEMPLATE_CATEGORY" val="custom"/>
  <p:tag name="KSO_WM_TEMPLATE_INDEX" val="20237990"/>
  <p:tag name="KSO_WM_UNIT_LAYERLEVEL" val="1"/>
  <p:tag name="KSO_WM_TAG_VERSION" val="3.0"/>
  <p:tag name="KSO_WM_BEAUTIFY_FLAG" val="#wm#"/>
  <p:tag name="KSO_WM_UNIT_PRESET_TEXT" val="Name"/>
</p:tagLst>
</file>

<file path=ppt/tags/tag207.xml><?xml version="1.0" encoding="utf-8"?>
<p:tagLst xmlns:p="http://schemas.openxmlformats.org/presentationml/2006/main">
  <p:tag name="KSO_WM_TEMPLATE_THUMBS_INDEX" val="1、9"/>
  <p:tag name="KSO_WM_SPECIAL_SOURCE" val="bdnull"/>
  <p:tag name="KSO_WM_SLIDE_ID" val="custom20237990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7990"/>
  <p:tag name="KSO_WM_SLIDE_LAYOUT" val="a_b_f"/>
  <p:tag name="KSO_WM_SLIDE_LAYOUT_CNT" val="1_1_2"/>
  <p:tag name="KSO_WM_SLIDE_THEME_ID" val="3312678"/>
  <p:tag name="KSO_WM_SLIDE_THEME_NAME" val="Red Minimalist"/>
</p:tagLst>
</file>

<file path=ppt/tags/tag208.xml><?xml version="1.0" encoding="utf-8"?>
<p:tagLst xmlns:p="http://schemas.openxmlformats.org/presentationml/2006/main">
  <p:tag name="KSO_WM_UNIT_INDEX" val="6"/>
  <p:tag name="KSO_WM_UNIT_TYPE" val="f"/>
  <p:tag name="KSO_WM_BEAUTIFY_FLAG" val="#wm#"/>
  <p:tag name="KSO_WM_UNIT_SUBTYPE" val="a"/>
</p:tagLst>
</file>

<file path=ppt/tags/tag20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10.xml><?xml version="1.0" encoding="utf-8"?>
<p:tagLst xmlns:p="http://schemas.openxmlformats.org/presentationml/2006/main">
  <p:tag name="KSO_WM_UNIT_INDEX" val="3"/>
  <p:tag name="KSO_WM_UNIT_TYPE" val="f"/>
  <p:tag name="KSO_WM_BEAUTIFY_FLAG" val="#wm#"/>
  <p:tag name="KSO_WM_UNIT_SUBTYPE" val="a"/>
</p:tagLst>
</file>

<file path=ppt/tags/tag21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12.xml><?xml version="1.0" encoding="utf-8"?>
<p:tagLst xmlns:p="http://schemas.openxmlformats.org/presentationml/2006/main">
  <p:tag name="KSO_WM_UNIT_INDEX" val="11"/>
  <p:tag name="KSO_WM_UNIT_TYPE" val="f"/>
  <p:tag name="KSO_WM_BEAUTIFY_FLAG" val="#wm#"/>
  <p:tag name="KSO_WM_UNIT_SUBTYPE" val="a"/>
</p:tagLst>
</file>

<file path=ppt/tags/tag21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14.xml><?xml version="1.0" encoding="utf-8"?>
<p:tagLst xmlns:p="http://schemas.openxmlformats.org/presentationml/2006/main">
  <p:tag name="KSO_WM_UNIT_INDEX" val="13"/>
  <p:tag name="KSO_WM_UNIT_TYPE" val="f"/>
  <p:tag name="KSO_WM_BEAUTIFY_FLAG" val="#wm#"/>
  <p:tag name="KSO_WM_UNIT_SUBTYPE" val="a"/>
</p:tagLst>
</file>

<file path=ppt/tags/tag21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16.xml><?xml version="1.0" encoding="utf-8"?>
<p:tagLst xmlns:p="http://schemas.openxmlformats.org/presentationml/2006/main">
  <p:tag name="KSO_WM_UNIT_INDEX" val="13"/>
  <p:tag name="KSO_WM_UNIT_TYPE" val="f"/>
  <p:tag name="KSO_WM_BEAUTIFY_FLAG" val="#wm#"/>
  <p:tag name="KSO_WM_UNIT_SUBTYPE" val="a"/>
</p:tagLst>
</file>

<file path=ppt/tags/tag21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18.xml><?xml version="1.0" encoding="utf-8"?>
<p:tagLst xmlns:p="http://schemas.openxmlformats.org/presentationml/2006/main">
  <p:tag name="KSO_WM_UNIT_INDEX" val="11"/>
  <p:tag name="KSO_WM_UNIT_TYPE" val="f"/>
  <p:tag name="KSO_WM_BEAUTIFY_FLAG" val="#wm#"/>
  <p:tag name="KSO_WM_UNIT_SUBTYPE" val="a"/>
</p:tagLst>
</file>

<file path=ppt/tags/tag21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20.xml><?xml version="1.0" encoding="utf-8"?>
<p:tagLst xmlns:p="http://schemas.openxmlformats.org/presentationml/2006/main">
  <p:tag name="KSO_WM_UNIT_INDEX" val="7"/>
  <p:tag name="KSO_WM_UNIT_TYPE" val="f"/>
  <p:tag name="KSO_WM_BEAUTIFY_FLAG" val="#wm#"/>
  <p:tag name="KSO_WM_UNIT_SUBTYPE" val="a"/>
</p:tagLst>
</file>

<file path=ppt/tags/tag22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22.xml><?xml version="1.0" encoding="utf-8"?>
<p:tagLst xmlns:p="http://schemas.openxmlformats.org/presentationml/2006/main">
  <p:tag name="KSO_WM_UNIT_INDEX" val="7"/>
  <p:tag name="KSO_WM_UNIT_TYPE" val="f"/>
  <p:tag name="KSO_WM_BEAUTIFY_FLAG" val="#wm#"/>
  <p:tag name="KSO_WM_UNIT_SUBTYPE" val="a"/>
</p:tagLst>
</file>

<file path=ppt/tags/tag22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24.xml><?xml version="1.0" encoding="utf-8"?>
<p:tagLst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22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26.xml><?xml version="1.0" encoding="utf-8"?>
<p:tagLst xmlns:p="http://schemas.openxmlformats.org/presentationml/2006/main">
  <p:tag name="KSO_WM_UNIT_INDEX" val="10"/>
  <p:tag name="KSO_WM_UNIT_TYPE" val="f"/>
  <p:tag name="KSO_WM_BEAUTIFY_FLAG" val="#wm#"/>
  <p:tag name="KSO_WM_UNIT_SUBTYPE" val="a"/>
</p:tagLst>
</file>

<file path=ppt/tags/tag2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28.xml><?xml version="1.0" encoding="utf-8"?>
<p:tagLst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30.xml><?xml version="1.0" encoding="utf-8"?>
<p:tagLst xmlns:p="http://schemas.openxmlformats.org/presentationml/2006/main">
  <p:tag name="KSO_WM_UNIT_INDEX" val="8"/>
  <p:tag name="KSO_WM_UNIT_TYPE" val="f"/>
  <p:tag name="KSO_WM_BEAUTIFY_FLAG" val="#wm#"/>
  <p:tag name="KSO_WM_UNIT_SUBTYPE" val="a"/>
</p:tagLst>
</file>

<file path=ppt/tags/tag23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32.xml><?xml version="1.0" encoding="utf-8"?>
<p:tagLst xmlns:p="http://schemas.openxmlformats.org/presentationml/2006/main">
  <p:tag name="KSO_WM_UNIT_INDEX" val="12"/>
  <p:tag name="KSO_WM_UNIT_TYPE" val="f"/>
  <p:tag name="KSO_WM_BEAUTIFY_FLAG" val="#wm#"/>
  <p:tag name="KSO_WM_UNIT_SUBTYPE" val="a"/>
</p:tagLst>
</file>

<file path=ppt/tags/tag23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34.xml><?xml version="1.0" encoding="utf-8"?>
<p:tagLst xmlns:p="http://schemas.openxmlformats.org/presentationml/2006/main">
  <p:tag name="KSO_WM_UNIT_INDEX" val="12"/>
  <p:tag name="KSO_WM_UNIT_TYPE" val="f"/>
  <p:tag name="KSO_WM_BEAUTIFY_FLAG" val="#wm#"/>
  <p:tag name="KSO_WM_UNIT_SUBTYPE" val="a"/>
</p:tagLst>
</file>

<file path=ppt/tags/tag23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36.xml><?xml version="1.0" encoding="utf-8"?>
<p:tagLst xmlns:p="http://schemas.openxmlformats.org/presentationml/2006/main">
  <p:tag name="KSO_WM_UNIT_INDEX" val="12"/>
  <p:tag name="KSO_WM_UNIT_TYPE" val="f"/>
  <p:tag name="KSO_WM_BEAUTIFY_FLAG" val="#wm#"/>
  <p:tag name="KSO_WM_UNIT_SUBTYPE" val="a"/>
</p:tagLst>
</file>

<file path=ppt/tags/tag2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38.xml><?xml version="1.0" encoding="utf-8"?>
<p:tagLst xmlns:p="http://schemas.openxmlformats.org/presentationml/2006/main">
  <p:tag name="KSO_WM_UNIT_INDEX" val="10"/>
  <p:tag name="KSO_WM_UNIT_TYPE" val="f"/>
  <p:tag name="KSO_WM_BEAUTIFY_FLAG" val="#wm#"/>
  <p:tag name="KSO_WM_UNIT_SUBTYPE" val="a"/>
</p:tagLst>
</file>

<file path=ppt/tags/tag23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40.xml><?xml version="1.0" encoding="utf-8"?>
<p:tagLst xmlns:p="http://schemas.openxmlformats.org/presentationml/2006/main">
  <p:tag name="KSO_WM_UNIT_INDEX" val="9"/>
  <p:tag name="KSO_WM_UNIT_TYPE" val="f"/>
  <p:tag name="KSO_WM_BEAUTIFY_FLAG" val="#wm#"/>
  <p:tag name="KSO_WM_UNIT_SUBTYPE" val="a"/>
</p:tagLst>
</file>

<file path=ppt/tags/tag24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42.xml><?xml version="1.0" encoding="utf-8"?>
<p:tagLst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ags/tag244.xml><?xml version="1.0" encoding="utf-8"?>
<p:tagLst xmlns:p="http://schemas.openxmlformats.org/presentationml/2006/main">
  <p:tag name="KSO_WM_UNIT_INDEX" val="1"/>
  <p:tag name="KSO_WM_UNIT_TYPE" val="α"/>
  <p:tag name="KSO_WM_BEAUTIFY_FLAG" val="#wm#"/>
</p:tagLst>
</file>

<file path=ppt/tags/tag245.xml><?xml version="1.0" encoding="utf-8"?>
<p:tagLst xmlns:p="http://schemas.openxmlformats.org/presentationml/2006/main">
  <p:tag name="KSO_WM_UNIT_INDEX" val="2"/>
  <p:tag name="KSO_WM_UNIT_TYPE" val="j"/>
  <p:tag name="KSO_WM_BEAUTIFY_FLAG" val="#wm#"/>
</p:tagLst>
</file>

<file path=ppt/tags/tag24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ext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AICARD_INVALID" val="Invalid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8362</Words>
  <Application>WPS Presentation</Application>
  <PresentationFormat>Widescreen</PresentationFormat>
  <Paragraphs>255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20</vt:i4>
      </vt:variant>
    </vt:vector>
  </HeadingPairs>
  <TitlesOfParts>
    <vt:vector size="33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Manrope ExtraBold</vt:lpstr>
      <vt:lpstr>Lato</vt:lpstr>
      <vt:lpstr>Segoe Print</vt:lpstr>
      <vt:lpstr>WPS</vt:lpstr>
      <vt:lpstr>1_WPS</vt:lpstr>
      <vt:lpstr>Office Theme</vt:lpstr>
      <vt:lpstr>Click to add title</vt:lpstr>
      <vt:lpstr>Activity Recognition Using Machine Learning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Activity Recognition Using Machine Learning</dc:title>
  <dc:creator>prasa</dc:creator>
  <cp:lastModifiedBy>Prasad Pattuvam veedu</cp:lastModifiedBy>
  <cp:revision>2</cp:revision>
  <dcterms:created xsi:type="dcterms:W3CDTF">2026-09-15T12:14:06Z</dcterms:created>
  <dcterms:modified xsi:type="dcterms:W3CDTF">2026-09-15T12:16:32Z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4823528DC0C14BB88F8627C9183A61A8_13</vt:lpwstr>
  </property>
</Properties>
</file>